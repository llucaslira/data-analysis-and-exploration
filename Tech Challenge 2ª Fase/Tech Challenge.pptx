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ed Hat Display"/>
      <p:regular r:id="rId13"/>
      <p:bold r:id="rId14"/>
      <p:italic r:id="rId15"/>
      <p:boldItalic r:id="rId16"/>
    </p:embeddedFont>
    <p:embeddedFont>
      <p:font typeface="Lexend Dec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edHat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edHatDisplay-italic.fntdata"/><Relationship Id="rId14" Type="http://schemas.openxmlformats.org/officeDocument/2006/relationships/font" Target="fonts/RedHatDisplay-bold.fntdata"/><Relationship Id="rId17" Type="http://schemas.openxmlformats.org/officeDocument/2006/relationships/font" Target="fonts/LexendDeca-regular.fntdata"/><Relationship Id="rId16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exendDe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2a487f8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72a487f83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2a487f83e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72a487f83e_1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2a487f83e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2a487f83e_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2a487f83e_1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for falar essa parte pode comentar que </a:t>
            </a:r>
            <a:r>
              <a:rPr lang="pt-BR" sz="1200">
                <a:solidFill>
                  <a:srgbClr val="595959"/>
                </a:solidFill>
              </a:rPr>
              <a:t>c</a:t>
            </a:r>
            <a:r>
              <a:rPr lang="pt-BR" sz="1200">
                <a:solidFill>
                  <a:srgbClr val="595959"/>
                </a:solidFill>
              </a:rPr>
              <a:t>riamos indicadores técnicos que ajudam o modelo a “entender” o comportamento do mercado</a:t>
            </a:r>
            <a:br>
              <a:rPr lang="pt-BR" sz="1200">
                <a:solidFill>
                  <a:srgbClr val="595959"/>
                </a:solidFill>
              </a:rPr>
            </a:br>
            <a:br>
              <a:rPr lang="pt-BR" sz="1200">
                <a:solidFill>
                  <a:srgbClr val="595959"/>
                </a:solidFill>
              </a:rPr>
            </a:br>
            <a:r>
              <a:rPr lang="pt-BR" sz="1200">
                <a:solidFill>
                  <a:srgbClr val="595959"/>
                </a:solidFill>
              </a:rPr>
              <a:t>*Criação do alvo (target)*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Criação da variável Target (Alvo)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	•	O que é target?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É a variável que o modelo precisa prever. No nosso caso: se o IBOVESPA sobe (1) ou cai (0) no dia seguinte.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	•	Por que ela é importante?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Porque ela transforma o desafio em um problema de classificação binária. Toda a modelagem gira em torno de prever esse valor.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• target = 1 se o fechamento do próximo dia for maior que o atual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• target = 0 caso contrário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→ Transformação do problema em classificação binária,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181" name="Google Shape;181;g372a487f83e_1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2a487f83e_1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72a487f83e_1_7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2a487f83e_1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72a487f83e_1_4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2a487f83e_1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72a487f83e_1_5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jp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652818" y="2281540"/>
            <a:ext cx="2888974" cy="2899517"/>
          </a:xfrm>
          <a:custGeom>
            <a:rect b="b" l="l" r="r" t="t"/>
            <a:pathLst>
              <a:path extrusionOk="0" h="5799034" w="5777947">
                <a:moveTo>
                  <a:pt x="0" y="0"/>
                </a:moveTo>
                <a:lnTo>
                  <a:pt x="5777947" y="0"/>
                </a:lnTo>
                <a:lnTo>
                  <a:pt x="5777947" y="5799034"/>
                </a:lnTo>
                <a:lnTo>
                  <a:pt x="0" y="57990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13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p13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" name="Google Shape;57;p13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" name="Google Shape;58;p13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59" name="Google Shape;59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60" name="Google Shape;60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62" name="Google Shape;62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63" name="Google Shape;63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65" name="Google Shape;65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66" name="Google Shape;66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68" name="Google Shape;68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69" name="Google Shape;69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71" name="Google Shape;71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72" name="Google Shape;72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13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74" name="Google Shape;74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75" name="Google Shape;75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13"/>
          <p:cNvGrpSpPr/>
          <p:nvPr/>
        </p:nvGrpSpPr>
        <p:grpSpPr>
          <a:xfrm>
            <a:off x="6008024" y="4717338"/>
            <a:ext cx="1301834" cy="422667"/>
            <a:chOff x="0" y="-28575"/>
            <a:chExt cx="665389" cy="216032"/>
          </a:xfrm>
        </p:grpSpPr>
        <p:sp>
          <p:nvSpPr>
            <p:cNvPr id="77" name="Google Shape;77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78" name="Google Shape;78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3"/>
          <p:cNvGrpSpPr/>
          <p:nvPr/>
        </p:nvGrpSpPr>
        <p:grpSpPr>
          <a:xfrm>
            <a:off x="7074915" y="4717338"/>
            <a:ext cx="1301834" cy="422667"/>
            <a:chOff x="0" y="-28575"/>
            <a:chExt cx="665389" cy="216032"/>
          </a:xfrm>
        </p:grpSpPr>
        <p:sp>
          <p:nvSpPr>
            <p:cNvPr id="80" name="Google Shape;80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81" name="Google Shape;81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8173702" y="4717338"/>
            <a:ext cx="1301834" cy="422667"/>
            <a:chOff x="0" y="-28575"/>
            <a:chExt cx="665389" cy="216032"/>
          </a:xfrm>
        </p:grpSpPr>
        <p:sp>
          <p:nvSpPr>
            <p:cNvPr id="83" name="Google Shape;83;p13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84" name="Google Shape;84;p13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" name="Google Shape;85;p13"/>
          <p:cNvSpPr txBox="1"/>
          <p:nvPr/>
        </p:nvSpPr>
        <p:spPr>
          <a:xfrm>
            <a:off x="514350" y="1786743"/>
            <a:ext cx="59997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Tech Challenge - 2ª Fase</a:t>
            </a:r>
            <a:endParaRPr sz="1100"/>
          </a:p>
          <a:p>
            <a:pPr indent="0" lvl="0" marL="0" marR="0" rtl="0" algn="l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Modelo Preditivo para Tendência do IBOVESPA</a:t>
            </a:r>
            <a:endParaRPr sz="700"/>
          </a:p>
          <a:p>
            <a:pPr indent="0" lvl="0" marL="0" marR="0" rtl="0" algn="l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87EB49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</a:t>
            </a:r>
            <a:r>
              <a:rPr lang="pt-BR" sz="8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TECH </a:t>
            </a: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ANALYTICS</a:t>
            </a:r>
            <a:endParaRPr sz="70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214754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4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4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4"/>
          <p:cNvSpPr/>
          <p:nvPr/>
        </p:nvSpPr>
        <p:spPr>
          <a:xfrm flipH="1">
            <a:off x="879845" y="1322997"/>
            <a:ext cx="3319422" cy="2015794"/>
          </a:xfrm>
          <a:custGeom>
            <a:rect b="b" l="l" r="r" t="t"/>
            <a:pathLst>
              <a:path extrusionOk="0" h="4031588" w="6638843">
                <a:moveTo>
                  <a:pt x="6638843" y="0"/>
                </a:moveTo>
                <a:lnTo>
                  <a:pt x="0" y="0"/>
                </a:lnTo>
                <a:lnTo>
                  <a:pt x="0" y="4031589"/>
                </a:lnTo>
                <a:lnTo>
                  <a:pt x="6638843" y="4031589"/>
                </a:lnTo>
                <a:lnTo>
                  <a:pt x="6638843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4"/>
          <p:cNvSpPr txBox="1"/>
          <p:nvPr/>
        </p:nvSpPr>
        <p:spPr>
          <a:xfrm>
            <a:off x="5135600" y="1706845"/>
            <a:ext cx="3130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BB8B8"/>
                </a:solidFill>
              </a:rPr>
              <a:t>Desenvolver um modelo preditivo capaz de </a:t>
            </a: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prever</a:t>
            </a:r>
            <a:r>
              <a:rPr lang="pt-BR" sz="1100">
                <a:solidFill>
                  <a:srgbClr val="BBB8B8"/>
                </a:solidFill>
              </a:rPr>
              <a:t> se o índice IBOVESPA vai fechar em alta ou baixa no próximo dia, com base em dados históricos do mesmo e atingindo pelo menos 75% de acurácia no conjunto de teste.</a:t>
            </a:r>
            <a:endParaRPr sz="11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100">
                <a:solidFill>
                  <a:srgbClr val="BBB8B8"/>
                </a:solidFill>
              </a:rPr>
              <a:t> </a:t>
            </a:r>
            <a:endParaRPr sz="1100">
              <a:solidFill>
                <a:srgbClr val="BBB8B8"/>
              </a:solidFill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4"/>
          <p:cNvSpPr/>
          <p:nvPr/>
        </p:nvSpPr>
        <p:spPr>
          <a:xfrm flipH="1">
            <a:off x="2539556" y="1322997"/>
            <a:ext cx="3319422" cy="2015794"/>
          </a:xfrm>
          <a:custGeom>
            <a:rect b="b" l="l" r="r" t="t"/>
            <a:pathLst>
              <a:path extrusionOk="0" h="4031588" w="6638843">
                <a:moveTo>
                  <a:pt x="6638844" y="0"/>
                </a:moveTo>
                <a:lnTo>
                  <a:pt x="0" y="0"/>
                </a:lnTo>
                <a:lnTo>
                  <a:pt x="0" y="4031589"/>
                </a:lnTo>
                <a:lnTo>
                  <a:pt x="6638844" y="4031589"/>
                </a:lnTo>
                <a:lnTo>
                  <a:pt x="6638844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4"/>
          <p:cNvSpPr/>
          <p:nvPr/>
        </p:nvSpPr>
        <p:spPr>
          <a:xfrm>
            <a:off x="879846" y="3193515"/>
            <a:ext cx="7350305" cy="725358"/>
          </a:xfrm>
          <a:custGeom>
            <a:rect b="b" l="l" r="r" t="t"/>
            <a:pathLst>
              <a:path extrusionOk="0" h="168590" w="1708380">
                <a:moveTo>
                  <a:pt x="1505180" y="0"/>
                </a:moveTo>
                <a:lnTo>
                  <a:pt x="0" y="0"/>
                </a:lnTo>
                <a:lnTo>
                  <a:pt x="203200" y="168590"/>
                </a:lnTo>
                <a:lnTo>
                  <a:pt x="1708380" y="168590"/>
                </a:lnTo>
                <a:lnTo>
                  <a:pt x="150518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7248" l="0" r="0" t="-217253"/>
            </a:stretch>
          </a:blipFill>
          <a:ln cap="sq" cmpd="sng" w="66675">
            <a:solidFill>
              <a:srgbClr val="41722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0" name="Google Shape;100;p14"/>
          <p:cNvSpPr txBox="1"/>
          <p:nvPr/>
        </p:nvSpPr>
        <p:spPr>
          <a:xfrm>
            <a:off x="879846" y="1423010"/>
            <a:ext cx="4715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Desafio Proposto</a:t>
            </a:r>
            <a:endParaRPr sz="500"/>
          </a:p>
        </p:txBody>
      </p:sp>
      <p:sp>
        <p:nvSpPr>
          <p:cNvPr id="101" name="Google Shape;101;p14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TECH DATA ANALYTICS</a:t>
            </a:r>
            <a:endParaRPr sz="700"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118" name="Google Shape;118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19" name="Google Shape;119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4"/>
          <p:cNvGrpSpPr/>
          <p:nvPr/>
        </p:nvGrpSpPr>
        <p:grpSpPr>
          <a:xfrm>
            <a:off x="6008024" y="4717338"/>
            <a:ext cx="1301834" cy="422667"/>
            <a:chOff x="0" y="-28575"/>
            <a:chExt cx="665389" cy="216032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7074915" y="4717338"/>
            <a:ext cx="1301834" cy="422667"/>
            <a:chOff x="0" y="-28575"/>
            <a:chExt cx="665389" cy="216032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8173702" y="4717338"/>
            <a:ext cx="1301834" cy="422667"/>
            <a:chOff x="0" y="-28575"/>
            <a:chExt cx="665389" cy="216032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28" name="Google Shape;128;p14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282790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5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5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5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5"/>
          <p:cNvSpPr/>
          <p:nvPr/>
        </p:nvSpPr>
        <p:spPr>
          <a:xfrm flipH="1">
            <a:off x="1243181" y="1631868"/>
            <a:ext cx="3319422" cy="2015794"/>
          </a:xfrm>
          <a:custGeom>
            <a:rect b="b" l="l" r="r" t="t"/>
            <a:pathLst>
              <a:path extrusionOk="0" h="4031588" w="6638843">
                <a:moveTo>
                  <a:pt x="6638843" y="0"/>
                </a:moveTo>
                <a:lnTo>
                  <a:pt x="0" y="0"/>
                </a:lnTo>
                <a:lnTo>
                  <a:pt x="0" y="4031588"/>
                </a:lnTo>
                <a:lnTo>
                  <a:pt x="6638843" y="4031588"/>
                </a:lnTo>
                <a:lnTo>
                  <a:pt x="6638843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5"/>
          <p:cNvSpPr txBox="1"/>
          <p:nvPr/>
        </p:nvSpPr>
        <p:spPr>
          <a:xfrm>
            <a:off x="4016777" y="1086715"/>
            <a:ext cx="187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Para o modelo, foi utilizado um histórico do IBOVESPA do período de </a:t>
            </a:r>
            <a:r>
              <a:rPr b="1"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1995 até 2025</a:t>
            </a:r>
            <a:endParaRPr sz="12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 flipH="1">
            <a:off x="-416530" y="1631868"/>
            <a:ext cx="3319422" cy="2015794"/>
          </a:xfrm>
          <a:custGeom>
            <a:rect b="b" l="l" r="r" t="t"/>
            <a:pathLst>
              <a:path extrusionOk="0" h="4031588" w="6638843">
                <a:moveTo>
                  <a:pt x="6638843" y="0"/>
                </a:moveTo>
                <a:lnTo>
                  <a:pt x="0" y="0"/>
                </a:lnTo>
                <a:lnTo>
                  <a:pt x="0" y="4031588"/>
                </a:lnTo>
                <a:lnTo>
                  <a:pt x="6638843" y="4031588"/>
                </a:lnTo>
                <a:lnTo>
                  <a:pt x="6638843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614325" y="1844750"/>
            <a:ext cx="3119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Premissas Utilizadas</a:t>
            </a:r>
            <a:r>
              <a:rPr lang="pt-BR" sz="52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endParaRPr sz="700"/>
          </a:p>
        </p:txBody>
      </p:sp>
      <p:sp>
        <p:nvSpPr>
          <p:cNvPr id="142" name="Google Shape;142;p15"/>
          <p:cNvSpPr txBox="1"/>
          <p:nvPr/>
        </p:nvSpPr>
        <p:spPr>
          <a:xfrm>
            <a:off x="3973483" y="803233"/>
            <a:ext cx="199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Aquisição dos Dados</a:t>
            </a:r>
            <a:endParaRPr sz="700"/>
          </a:p>
        </p:txBody>
      </p:sp>
      <p:sp>
        <p:nvSpPr>
          <p:cNvPr id="143" name="Google Shape;143;p15"/>
          <p:cNvSpPr txBox="1"/>
          <p:nvPr/>
        </p:nvSpPr>
        <p:spPr>
          <a:xfrm>
            <a:off x="6502372" y="1903437"/>
            <a:ext cx="187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Font typeface="Calibri"/>
              <a:buChar char="●"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Font typeface="Calibri"/>
              <a:buChar char="●"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Random </a:t>
            </a: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Font typeface="Calibri"/>
              <a:buChar char="●"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XG Boost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Font typeface="Calibri"/>
              <a:buChar char="●"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CAT Boost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Font typeface="Calibri"/>
              <a:buChar char="●"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Regressão Logística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6485349" y="1655675"/>
            <a:ext cx="187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Modelos Testados</a:t>
            </a:r>
            <a:endParaRPr sz="700"/>
          </a:p>
        </p:txBody>
      </p:sp>
      <p:sp>
        <p:nvSpPr>
          <p:cNvPr id="145" name="Google Shape;145;p15"/>
          <p:cNvSpPr txBox="1"/>
          <p:nvPr/>
        </p:nvSpPr>
        <p:spPr>
          <a:xfrm>
            <a:off x="4042738" y="2552513"/>
            <a:ext cx="21336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Realizamos o pré-processamento dos dados com a conversão de colunas numéricas para o tipo </a:t>
            </a:r>
            <a:r>
              <a:rPr i="1"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, normalização de valores com abreviações (como "3B" para 3 bilhões), e padronização das datas para o formato </a:t>
            </a:r>
            <a:r>
              <a:rPr i="1"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datetime</a:t>
            </a:r>
            <a:r>
              <a:rPr lang="pt-BR" sz="10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, garantindo a ordenação cronológica correta.</a:t>
            </a:r>
            <a:endParaRPr sz="10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4009039" y="2285821"/>
            <a:ext cx="213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Exploração dos Dados</a:t>
            </a:r>
            <a:endParaRPr sz="700"/>
          </a:p>
        </p:txBody>
      </p:sp>
      <p:sp>
        <p:nvSpPr>
          <p:cNvPr id="147" name="Google Shape;147;p15"/>
          <p:cNvSpPr txBox="1"/>
          <p:nvPr/>
        </p:nvSpPr>
        <p:spPr>
          <a:xfrm>
            <a:off x="6521543" y="3408000"/>
            <a:ext cx="22890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rgbClr val="BBB8B8"/>
                </a:solidFill>
                <a:latin typeface="Calibri"/>
                <a:ea typeface="Calibri"/>
                <a:cs typeface="Calibri"/>
                <a:sym typeface="Calibri"/>
              </a:rPr>
              <a:t>Para avaliar o desempenho do modelo, utilizamos os indicadores de precisão, acurácia, sensibilidade (recall), F1-score, além da matriz de confusão para uma análise final dos resultados.</a:t>
            </a:r>
            <a:endParaRPr sz="1100">
              <a:solidFill>
                <a:srgbClr val="BBB8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485361" y="3182761"/>
            <a:ext cx="213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Métricas de Resultado</a:t>
            </a:r>
            <a:endParaRPr sz="700"/>
          </a:p>
        </p:txBody>
      </p:sp>
      <p:grpSp>
        <p:nvGrpSpPr>
          <p:cNvPr id="149" name="Google Shape;149;p15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5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57" name="Google Shape;157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60" name="Google Shape;160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63" name="Google Shape;163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66" name="Google Shape;166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6076060" y="4717338"/>
            <a:ext cx="1301834" cy="422667"/>
            <a:chOff x="0" y="-28575"/>
            <a:chExt cx="665389" cy="216032"/>
          </a:xfrm>
        </p:grpSpPr>
        <p:sp>
          <p:nvSpPr>
            <p:cNvPr id="168" name="Google Shape;168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69" name="Google Shape;169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5"/>
          <p:cNvGrpSpPr/>
          <p:nvPr/>
        </p:nvGrpSpPr>
        <p:grpSpPr>
          <a:xfrm>
            <a:off x="7142950" y="4717338"/>
            <a:ext cx="1301834" cy="422667"/>
            <a:chOff x="0" y="-28575"/>
            <a:chExt cx="665389" cy="216032"/>
          </a:xfrm>
        </p:grpSpPr>
        <p:sp>
          <p:nvSpPr>
            <p:cNvPr id="171" name="Google Shape;171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72" name="Google Shape;172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5"/>
          <p:cNvGrpSpPr/>
          <p:nvPr/>
        </p:nvGrpSpPr>
        <p:grpSpPr>
          <a:xfrm>
            <a:off x="8241737" y="4717338"/>
            <a:ext cx="1301834" cy="422667"/>
            <a:chOff x="0" y="-28575"/>
            <a:chExt cx="665389" cy="216032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75" name="Google Shape;175;p15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6" name="Google Shape;1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TECH DATA ANALYTICS</a:t>
            </a:r>
            <a:endParaRPr sz="700"/>
          </a:p>
        </p:txBody>
      </p:sp>
      <p:sp>
        <p:nvSpPr>
          <p:cNvPr id="178" name="Google Shape;178;p15"/>
          <p:cNvSpPr txBox="1"/>
          <p:nvPr/>
        </p:nvSpPr>
        <p:spPr>
          <a:xfrm>
            <a:off x="85050" y="4417775"/>
            <a:ext cx="528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BBB8B8"/>
                </a:solidFill>
              </a:rPr>
              <a:t>Dados Adquiridos em: </a:t>
            </a:r>
            <a:r>
              <a:rPr lang="pt-BR" sz="800">
                <a:solidFill>
                  <a:srgbClr val="BBB8B8"/>
                </a:solidFill>
              </a:rPr>
              <a:t>https://br.investing.com/indices/bovespa-historical-data</a:t>
            </a:r>
            <a:endParaRPr sz="800">
              <a:solidFill>
                <a:srgbClr val="BBB8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/>
          <p:nvPr/>
        </p:nvSpPr>
        <p:spPr>
          <a:xfrm>
            <a:off x="214754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6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6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6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6"/>
          <p:cNvSpPr/>
          <p:nvPr/>
        </p:nvSpPr>
        <p:spPr>
          <a:xfrm flipH="1">
            <a:off x="2438527" y="1499600"/>
            <a:ext cx="2976330" cy="1807443"/>
          </a:xfrm>
          <a:custGeom>
            <a:rect b="b" l="l" r="r" t="t"/>
            <a:pathLst>
              <a:path extrusionOk="0" h="3614887" w="5952659">
                <a:moveTo>
                  <a:pt x="5952658" y="0"/>
                </a:moveTo>
                <a:lnTo>
                  <a:pt x="0" y="0"/>
                </a:lnTo>
                <a:lnTo>
                  <a:pt x="0" y="3614887"/>
                </a:lnTo>
                <a:lnTo>
                  <a:pt x="5952658" y="3614887"/>
                </a:lnTo>
                <a:lnTo>
                  <a:pt x="5952658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 txBox="1"/>
          <p:nvPr/>
        </p:nvSpPr>
        <p:spPr>
          <a:xfrm>
            <a:off x="4494525" y="1032450"/>
            <a:ext cx="42216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BBB8B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Char char="●"/>
            </a:pPr>
            <a:r>
              <a:rPr lang="pt-BR" sz="1000">
                <a:solidFill>
                  <a:srgbClr val="BBB8B8"/>
                </a:solidFill>
              </a:rPr>
              <a:t>SMA (Média Móvel Simples): Média dos preços dos últimos dias. Ajuda a suavizar oscilações e revelar tendências.</a:t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BBB8B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Char char="●"/>
            </a:pPr>
            <a:r>
              <a:rPr lang="pt-BR" sz="1000">
                <a:solidFill>
                  <a:srgbClr val="BBB8B8"/>
                </a:solidFill>
              </a:rPr>
              <a:t>RSI (Índice de Força Relativa) Mede a força e a velocidade dos movimentos de preço. Indica sobrecompra ou sobrevenda.</a:t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BBB8B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BB8B8"/>
              </a:buClr>
              <a:buSzPts val="1000"/>
              <a:buChar char="●"/>
            </a:pPr>
            <a:r>
              <a:rPr lang="pt-BR" sz="1000">
                <a:solidFill>
                  <a:srgbClr val="BBB8B8"/>
                </a:solidFill>
              </a:rPr>
              <a:t>MACD (Moving Average Convergence Divergence): Comparar duas médias móveis para identificar mudança de tendência.</a:t>
            </a:r>
            <a:endParaRPr sz="1000">
              <a:solidFill>
                <a:srgbClr val="BBB8B8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9" name="Google Shape;189;p16"/>
          <p:cNvSpPr/>
          <p:nvPr/>
        </p:nvSpPr>
        <p:spPr>
          <a:xfrm flipH="1">
            <a:off x="966204" y="1499600"/>
            <a:ext cx="2976330" cy="1807443"/>
          </a:xfrm>
          <a:custGeom>
            <a:rect b="b" l="l" r="r" t="t"/>
            <a:pathLst>
              <a:path extrusionOk="0" h="3614887" w="5952659">
                <a:moveTo>
                  <a:pt x="5952659" y="0"/>
                </a:moveTo>
                <a:lnTo>
                  <a:pt x="0" y="0"/>
                </a:lnTo>
                <a:lnTo>
                  <a:pt x="0" y="3614887"/>
                </a:lnTo>
                <a:lnTo>
                  <a:pt x="5952659" y="3614887"/>
                </a:lnTo>
                <a:lnTo>
                  <a:pt x="5952659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6"/>
          <p:cNvSpPr txBox="1"/>
          <p:nvPr/>
        </p:nvSpPr>
        <p:spPr>
          <a:xfrm>
            <a:off x="443175" y="1659300"/>
            <a:ext cx="422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Considerações Técnicas</a:t>
            </a:r>
            <a:endParaRPr sz="100"/>
          </a:p>
        </p:txBody>
      </p:sp>
      <p:sp>
        <p:nvSpPr>
          <p:cNvPr id="191" name="Google Shape;191;p16"/>
          <p:cNvSpPr txBox="1"/>
          <p:nvPr/>
        </p:nvSpPr>
        <p:spPr>
          <a:xfrm>
            <a:off x="4587786" y="735202"/>
            <a:ext cx="207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Indicadores Criados</a:t>
            </a:r>
            <a:endParaRPr sz="700"/>
          </a:p>
        </p:txBody>
      </p:sp>
      <p:sp>
        <p:nvSpPr>
          <p:cNvPr id="192" name="Google Shape;192;p16"/>
          <p:cNvSpPr txBox="1"/>
          <p:nvPr/>
        </p:nvSpPr>
        <p:spPr>
          <a:xfrm>
            <a:off x="4638801" y="3026150"/>
            <a:ext cx="25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Criação do Alvo (Target)</a:t>
            </a:r>
            <a:endParaRPr sz="700"/>
          </a:p>
        </p:txBody>
      </p:sp>
      <p:sp>
        <p:nvSpPr>
          <p:cNvPr id="193" name="Google Shape;193;p16"/>
          <p:cNvSpPr txBox="1"/>
          <p:nvPr/>
        </p:nvSpPr>
        <p:spPr>
          <a:xfrm>
            <a:off x="4644611" y="3465375"/>
            <a:ext cx="435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100">
                <a:solidFill>
                  <a:srgbClr val="BBB8B8"/>
                </a:solidFill>
              </a:rPr>
              <a:t>Transformação do problema em classificação binária,</a:t>
            </a:r>
            <a:endParaRPr sz="11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BB8B8"/>
                </a:solidFill>
              </a:rPr>
              <a:t>target = 1 se o fechamento do próximo dia for maior que o atual</a:t>
            </a:r>
            <a:endParaRPr sz="11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BB8B8"/>
                </a:solidFill>
              </a:rPr>
              <a:t>target = 0 caso contrário</a:t>
            </a:r>
            <a:endParaRPr sz="1100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194" name="Google Shape;194;p16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96" name="Google Shape;196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6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199" name="Google Shape;199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6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201" name="Google Shape;201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02" name="Google Shape;202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6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6076060" y="4717338"/>
            <a:ext cx="1301834" cy="422667"/>
            <a:chOff x="0" y="-28575"/>
            <a:chExt cx="665389" cy="216032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7142950" y="4717338"/>
            <a:ext cx="1301834" cy="422667"/>
            <a:chOff x="0" y="-28575"/>
            <a:chExt cx="665389" cy="216032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17" name="Google Shape;217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6"/>
          <p:cNvGrpSpPr/>
          <p:nvPr/>
        </p:nvGrpSpPr>
        <p:grpSpPr>
          <a:xfrm>
            <a:off x="8241737" y="4717338"/>
            <a:ext cx="1301834" cy="422667"/>
            <a:chOff x="0" y="-28575"/>
            <a:chExt cx="665389" cy="216032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1" name="Google Shape;2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TEC</a:t>
            </a:r>
            <a:r>
              <a:rPr lang="pt-BR" sz="8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</a:t>
            </a: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DATA ANALYTICS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/>
          <p:nvPr/>
        </p:nvSpPr>
        <p:spPr>
          <a:xfrm>
            <a:off x="214754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7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7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7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7"/>
          <p:cNvSpPr/>
          <p:nvPr/>
        </p:nvSpPr>
        <p:spPr>
          <a:xfrm flipH="1">
            <a:off x="4534006" y="1279983"/>
            <a:ext cx="2976330" cy="1807443"/>
          </a:xfrm>
          <a:custGeom>
            <a:rect b="b" l="l" r="r" t="t"/>
            <a:pathLst>
              <a:path extrusionOk="0" h="3614887" w="5952659">
                <a:moveTo>
                  <a:pt x="5952659" y="0"/>
                </a:moveTo>
                <a:lnTo>
                  <a:pt x="0" y="0"/>
                </a:lnTo>
                <a:lnTo>
                  <a:pt x="0" y="3614888"/>
                </a:lnTo>
                <a:lnTo>
                  <a:pt x="5952659" y="3614888"/>
                </a:lnTo>
                <a:lnTo>
                  <a:pt x="5952659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7"/>
          <p:cNvSpPr/>
          <p:nvPr/>
        </p:nvSpPr>
        <p:spPr>
          <a:xfrm flipH="1">
            <a:off x="1659519" y="1279983"/>
            <a:ext cx="2976330" cy="1807443"/>
          </a:xfrm>
          <a:custGeom>
            <a:rect b="b" l="l" r="r" t="t"/>
            <a:pathLst>
              <a:path extrusionOk="0" h="3614887" w="5952659">
                <a:moveTo>
                  <a:pt x="5952659" y="0"/>
                </a:moveTo>
                <a:lnTo>
                  <a:pt x="0" y="0"/>
                </a:lnTo>
                <a:lnTo>
                  <a:pt x="0" y="3614888"/>
                </a:lnTo>
                <a:lnTo>
                  <a:pt x="5952659" y="3614888"/>
                </a:lnTo>
                <a:lnTo>
                  <a:pt x="5952659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7"/>
          <p:cNvSpPr/>
          <p:nvPr/>
        </p:nvSpPr>
        <p:spPr>
          <a:xfrm flipH="1">
            <a:off x="3061683" y="1279983"/>
            <a:ext cx="2976330" cy="1807443"/>
          </a:xfrm>
          <a:custGeom>
            <a:rect b="b" l="l" r="r" t="t"/>
            <a:pathLst>
              <a:path extrusionOk="0" h="3614887" w="5952659">
                <a:moveTo>
                  <a:pt x="5952659" y="0"/>
                </a:moveTo>
                <a:lnTo>
                  <a:pt x="0" y="0"/>
                </a:lnTo>
                <a:lnTo>
                  <a:pt x="0" y="3614888"/>
                </a:lnTo>
                <a:lnTo>
                  <a:pt x="5952659" y="3614888"/>
                </a:lnTo>
                <a:lnTo>
                  <a:pt x="5952659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 txBox="1"/>
          <p:nvPr/>
        </p:nvSpPr>
        <p:spPr>
          <a:xfrm>
            <a:off x="1769526" y="303025"/>
            <a:ext cx="574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Modelo e Testes</a:t>
            </a:r>
            <a:endParaRPr sz="700"/>
          </a:p>
        </p:txBody>
      </p:sp>
      <p:pic>
        <p:nvPicPr>
          <p:cNvPr id="235" name="Google Shape;2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7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237" name="Google Shape;237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38" name="Google Shape;238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7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240" name="Google Shape;240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41" name="Google Shape;241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7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243" name="Google Shape;243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44" name="Google Shape;244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7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47" name="Google Shape;247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7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249" name="Google Shape;249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50" name="Google Shape;250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17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7"/>
          <p:cNvGrpSpPr/>
          <p:nvPr/>
        </p:nvGrpSpPr>
        <p:grpSpPr>
          <a:xfrm>
            <a:off x="6076060" y="4717338"/>
            <a:ext cx="1301834" cy="422667"/>
            <a:chOff x="0" y="-28575"/>
            <a:chExt cx="665389" cy="216032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56" name="Google Shape;256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7142950" y="4717338"/>
            <a:ext cx="1301834" cy="422667"/>
            <a:chOff x="0" y="-28575"/>
            <a:chExt cx="665389" cy="216032"/>
          </a:xfrm>
        </p:grpSpPr>
        <p:sp>
          <p:nvSpPr>
            <p:cNvPr id="258" name="Google Shape;258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59" name="Google Shape;259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8241737" y="4717338"/>
            <a:ext cx="1301834" cy="422667"/>
            <a:chOff x="0" y="-28575"/>
            <a:chExt cx="665389" cy="216032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3" name="Google Shape;263;p17" title="Captura de Tela 2025-08-02 às 19.14.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996" y="1576521"/>
            <a:ext cx="4154490" cy="20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7"/>
          <p:cNvSpPr txBox="1"/>
          <p:nvPr/>
        </p:nvSpPr>
        <p:spPr>
          <a:xfrm>
            <a:off x="5444775" y="1714450"/>
            <a:ext cx="3000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BBB8B8"/>
                </a:solidFill>
              </a:rPr>
              <a:t>Modelo LightGBM</a:t>
            </a:r>
            <a:endParaRPr b="1" sz="10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BB8B8"/>
                </a:solidFill>
              </a:rPr>
              <a:t>A</a:t>
            </a:r>
            <a:r>
              <a:rPr lang="pt-BR" sz="1000">
                <a:solidFill>
                  <a:srgbClr val="BBB8B8"/>
                </a:solidFill>
              </a:rPr>
              <a:t>curácia no Conjunto de Treino: 98.02%</a:t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BB8B8"/>
                </a:solidFill>
              </a:rPr>
              <a:t>Acurácia no Conjunto de Teste:  75.00%</a:t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BBB8B8"/>
                </a:solidFill>
              </a:rPr>
              <a:t>Overfitting:</a:t>
            </a:r>
            <a:r>
              <a:rPr b="1" lang="pt-BR" sz="1000">
                <a:solidFill>
                  <a:srgbClr val="BBB8B8"/>
                </a:solidFill>
              </a:rPr>
              <a:t> </a:t>
            </a:r>
            <a:endParaRPr sz="1000">
              <a:solidFill>
                <a:srgbClr val="BBB8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BBB8B8"/>
                </a:solidFill>
              </a:rPr>
              <a:t>o modelo apresentou ótimos resultados nos dados de treinamento, no entanto, observamos sinais de sobreajuste (overfitting) ao ser testado em dados ainda não vistos, o que nos levou a realizar ajustes para melhorar sua aplicabilidade.</a:t>
            </a:r>
            <a:endParaRPr sz="1000">
              <a:solidFill>
                <a:srgbClr val="BBB8B8"/>
              </a:solidFill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459246" y="2143134"/>
            <a:ext cx="4086300" cy="2892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TECH DATA ANALYTICS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/>
          <p:nvPr/>
        </p:nvSpPr>
        <p:spPr>
          <a:xfrm>
            <a:off x="214754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8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8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8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8"/>
          <p:cNvSpPr/>
          <p:nvPr/>
        </p:nvSpPr>
        <p:spPr>
          <a:xfrm flipH="1">
            <a:off x="1477972" y="1334646"/>
            <a:ext cx="4236450" cy="2572681"/>
          </a:xfrm>
          <a:custGeom>
            <a:rect b="b" l="l" r="r" t="t"/>
            <a:pathLst>
              <a:path extrusionOk="0" h="5145361" w="8472900">
                <a:moveTo>
                  <a:pt x="8472900" y="0"/>
                </a:moveTo>
                <a:lnTo>
                  <a:pt x="0" y="0"/>
                </a:lnTo>
                <a:lnTo>
                  <a:pt x="0" y="5145361"/>
                </a:lnTo>
                <a:lnTo>
                  <a:pt x="8472900" y="5145361"/>
                </a:lnTo>
                <a:lnTo>
                  <a:pt x="8472900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8"/>
          <p:cNvSpPr/>
          <p:nvPr/>
        </p:nvSpPr>
        <p:spPr>
          <a:xfrm flipH="1">
            <a:off x="-617705" y="1334646"/>
            <a:ext cx="4236450" cy="2572681"/>
          </a:xfrm>
          <a:custGeom>
            <a:rect b="b" l="l" r="r" t="t"/>
            <a:pathLst>
              <a:path extrusionOk="0" h="5145361" w="8472900">
                <a:moveTo>
                  <a:pt x="8472900" y="0"/>
                </a:moveTo>
                <a:lnTo>
                  <a:pt x="0" y="0"/>
                </a:lnTo>
                <a:lnTo>
                  <a:pt x="0" y="5145361"/>
                </a:lnTo>
                <a:lnTo>
                  <a:pt x="8472900" y="5145361"/>
                </a:lnTo>
                <a:lnTo>
                  <a:pt x="8472900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8"/>
          <p:cNvSpPr/>
          <p:nvPr/>
        </p:nvSpPr>
        <p:spPr>
          <a:xfrm>
            <a:off x="5911935" y="1391114"/>
            <a:ext cx="2354033" cy="2686137"/>
          </a:xfrm>
          <a:custGeom>
            <a:rect b="b" l="l" r="r" t="t"/>
            <a:pathLst>
              <a:path extrusionOk="0" h="5372274" w="4708066">
                <a:moveTo>
                  <a:pt x="0" y="0"/>
                </a:moveTo>
                <a:lnTo>
                  <a:pt x="4708066" y="0"/>
                </a:lnTo>
                <a:lnTo>
                  <a:pt x="4708066" y="5372274"/>
                </a:lnTo>
                <a:lnTo>
                  <a:pt x="0" y="5372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8"/>
          <p:cNvSpPr txBox="1"/>
          <p:nvPr/>
        </p:nvSpPr>
        <p:spPr>
          <a:xfrm>
            <a:off x="839604" y="1671181"/>
            <a:ext cx="4720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Conclusão</a:t>
            </a:r>
            <a:endParaRPr sz="100"/>
          </a:p>
        </p:txBody>
      </p:sp>
      <p:sp>
        <p:nvSpPr>
          <p:cNvPr id="279" name="Google Shape;279;p18"/>
          <p:cNvSpPr txBox="1"/>
          <p:nvPr/>
        </p:nvSpPr>
        <p:spPr>
          <a:xfrm>
            <a:off x="839600" y="2715125"/>
            <a:ext cx="4169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Após</a:t>
            </a: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 teste de 5 modelos diferentes, o modelo que melhor apresentou </a:t>
            </a: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acurácia</a:t>
            </a: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foi o </a:t>
            </a:r>
            <a:r>
              <a:rPr lang="pt-BR" sz="11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Light GBM. O modelo final então vai ser capaz de fornecer previsões robustas sobre o movimento do IBOVESPA no curto prazo, sendo confiável para análises quantitativas e estratégias de investimento da empresa baseadas no aprendizado de máquina.</a:t>
            </a:r>
            <a:endParaRPr sz="700"/>
          </a:p>
        </p:txBody>
      </p:sp>
      <p:pic>
        <p:nvPicPr>
          <p:cNvPr id="280" name="Google Shape;28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18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282" name="Google Shape;282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83" name="Google Shape;283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8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285" name="Google Shape;285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86" name="Google Shape;286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8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288" name="Google Shape;288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89" name="Google Shape;289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8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291" name="Google Shape;291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92" name="Google Shape;292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294" name="Google Shape;294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95" name="Google Shape;295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297" name="Google Shape;297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298" name="Google Shape;298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076060" y="4717338"/>
            <a:ext cx="1301834" cy="422667"/>
            <a:chOff x="0" y="-28575"/>
            <a:chExt cx="665389" cy="216032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7142950" y="4717338"/>
            <a:ext cx="1301834" cy="422667"/>
            <a:chOff x="0" y="-28575"/>
            <a:chExt cx="665389" cy="216032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8"/>
          <p:cNvGrpSpPr/>
          <p:nvPr/>
        </p:nvGrpSpPr>
        <p:grpSpPr>
          <a:xfrm>
            <a:off x="8241737" y="4717338"/>
            <a:ext cx="1301834" cy="422667"/>
            <a:chOff x="0" y="-28575"/>
            <a:chExt cx="665389" cy="216032"/>
          </a:xfrm>
        </p:grpSpPr>
        <p:sp>
          <p:nvSpPr>
            <p:cNvPr id="306" name="Google Shape;306;p18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07" name="Google Shape;307;p18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/>
          <p:nvPr/>
        </p:nvSpPr>
        <p:spPr>
          <a:xfrm>
            <a:off x="214754" y="-560211"/>
            <a:ext cx="8714492" cy="4466178"/>
          </a:xfrm>
          <a:custGeom>
            <a:rect b="b" l="l" r="r" t="t"/>
            <a:pathLst>
              <a:path extrusionOk="0" h="8932355" w="17428984">
                <a:moveTo>
                  <a:pt x="0" y="0"/>
                </a:moveTo>
                <a:lnTo>
                  <a:pt x="17428984" y="0"/>
                </a:lnTo>
                <a:lnTo>
                  <a:pt x="17428984" y="8932354"/>
                </a:lnTo>
                <a:lnTo>
                  <a:pt x="0" y="893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9"/>
          <p:cNvSpPr/>
          <p:nvPr/>
        </p:nvSpPr>
        <p:spPr>
          <a:xfrm>
            <a:off x="8265968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9"/>
          <p:cNvSpPr/>
          <p:nvPr/>
        </p:nvSpPr>
        <p:spPr>
          <a:xfrm>
            <a:off x="8049375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9"/>
          <p:cNvSpPr/>
          <p:nvPr/>
        </p:nvSpPr>
        <p:spPr>
          <a:xfrm>
            <a:off x="7811546" y="514350"/>
            <a:ext cx="363682" cy="220854"/>
          </a:xfrm>
          <a:custGeom>
            <a:rect b="b" l="l" r="r" t="t"/>
            <a:pathLst>
              <a:path extrusionOk="0" h="441708" w="727364">
                <a:moveTo>
                  <a:pt x="0" y="0"/>
                </a:moveTo>
                <a:lnTo>
                  <a:pt x="727364" y="0"/>
                </a:lnTo>
                <a:lnTo>
                  <a:pt x="727364" y="441708"/>
                </a:lnTo>
                <a:lnTo>
                  <a:pt x="0" y="441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9"/>
          <p:cNvSpPr/>
          <p:nvPr/>
        </p:nvSpPr>
        <p:spPr>
          <a:xfrm flipH="1">
            <a:off x="1477972" y="1334646"/>
            <a:ext cx="4236450" cy="2572681"/>
          </a:xfrm>
          <a:custGeom>
            <a:rect b="b" l="l" r="r" t="t"/>
            <a:pathLst>
              <a:path extrusionOk="0" h="5145361" w="8472900">
                <a:moveTo>
                  <a:pt x="8472900" y="0"/>
                </a:moveTo>
                <a:lnTo>
                  <a:pt x="0" y="0"/>
                </a:lnTo>
                <a:lnTo>
                  <a:pt x="0" y="5145361"/>
                </a:lnTo>
                <a:lnTo>
                  <a:pt x="8472900" y="5145361"/>
                </a:lnTo>
                <a:lnTo>
                  <a:pt x="8472900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9"/>
          <p:cNvSpPr/>
          <p:nvPr/>
        </p:nvSpPr>
        <p:spPr>
          <a:xfrm flipH="1">
            <a:off x="-617705" y="1334646"/>
            <a:ext cx="4236450" cy="2572681"/>
          </a:xfrm>
          <a:custGeom>
            <a:rect b="b" l="l" r="r" t="t"/>
            <a:pathLst>
              <a:path extrusionOk="0" h="5145361" w="8472900">
                <a:moveTo>
                  <a:pt x="8472900" y="0"/>
                </a:moveTo>
                <a:lnTo>
                  <a:pt x="0" y="0"/>
                </a:lnTo>
                <a:lnTo>
                  <a:pt x="0" y="5145361"/>
                </a:lnTo>
                <a:lnTo>
                  <a:pt x="8472900" y="5145361"/>
                </a:lnTo>
                <a:lnTo>
                  <a:pt x="8472900" y="0"/>
                </a:lnTo>
                <a:close/>
              </a:path>
            </a:pathLst>
          </a:custGeom>
          <a:blipFill rotWithShape="1">
            <a:blip r:embed="rId4">
              <a:alphaModFix amt="5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9"/>
          <p:cNvSpPr txBox="1"/>
          <p:nvPr/>
        </p:nvSpPr>
        <p:spPr>
          <a:xfrm>
            <a:off x="2354729" y="1334657"/>
            <a:ext cx="472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8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Obrigado!</a:t>
            </a:r>
            <a:endParaRPr sz="700"/>
          </a:p>
        </p:txBody>
      </p:sp>
      <p:sp>
        <p:nvSpPr>
          <p:cNvPr id="319" name="Google Shape;319;p19"/>
          <p:cNvSpPr txBox="1"/>
          <p:nvPr/>
        </p:nvSpPr>
        <p:spPr>
          <a:xfrm>
            <a:off x="2256442" y="2705100"/>
            <a:ext cx="4631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Elton José </a:t>
            </a:r>
            <a:r>
              <a:rPr b="1" lang="pt-BR" sz="1000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Araujo</a:t>
            </a: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Silva - RM363958 - elton.araujo91@gmail.com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Leonardo Fajoli Formigon - RM361088 - leonardofajoli@gmail.com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Lucas Augusto Fernandes de Lira - RM362265 - lucas.lira@bradesco.com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Mariana Domingues Brandão - RM362664 - maridbrandao@gmail.com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Ricardo Vieira Viana - RM362759 - ricardviana1@gmail.com</a:t>
            </a:r>
            <a:endParaRPr sz="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BBB8B8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310250" y="234243"/>
            <a:ext cx="599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87EB49"/>
                </a:solidFill>
                <a:latin typeface="Lexend Deca"/>
                <a:ea typeface="Lexend Deca"/>
                <a:cs typeface="Lexend Deca"/>
                <a:sym typeface="Lexend Deca"/>
              </a:rPr>
              <a:t>Tech Challenge - 2ª Fase</a:t>
            </a:r>
            <a:endParaRPr sz="500"/>
          </a:p>
          <a:p>
            <a:pPr indent="0" lvl="0" marL="0" marR="0" rtl="0" algn="l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87EB49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grpSp>
        <p:nvGrpSpPr>
          <p:cNvPr id="321" name="Google Shape;321;p19"/>
          <p:cNvGrpSpPr/>
          <p:nvPr/>
        </p:nvGrpSpPr>
        <p:grpSpPr>
          <a:xfrm>
            <a:off x="-416530" y="4740878"/>
            <a:ext cx="1301834" cy="422667"/>
            <a:chOff x="0" y="-28575"/>
            <a:chExt cx="665389" cy="216032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23" name="Google Shape;323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9"/>
          <p:cNvGrpSpPr/>
          <p:nvPr/>
        </p:nvGrpSpPr>
        <p:grpSpPr>
          <a:xfrm>
            <a:off x="614319" y="4739041"/>
            <a:ext cx="1301834" cy="422667"/>
            <a:chOff x="0" y="-28575"/>
            <a:chExt cx="665389" cy="216032"/>
          </a:xfrm>
        </p:grpSpPr>
        <p:sp>
          <p:nvSpPr>
            <p:cNvPr id="325" name="Google Shape;325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26" name="Google Shape;326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1681221" y="4717338"/>
            <a:ext cx="1301834" cy="422667"/>
            <a:chOff x="0" y="-28575"/>
            <a:chExt cx="665389" cy="216032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2743159" y="4717338"/>
            <a:ext cx="1301834" cy="422667"/>
            <a:chOff x="0" y="-28575"/>
            <a:chExt cx="665389" cy="216032"/>
          </a:xfrm>
        </p:grpSpPr>
        <p:sp>
          <p:nvSpPr>
            <p:cNvPr id="331" name="Google Shape;331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32" name="Google Shape;332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9"/>
          <p:cNvGrpSpPr/>
          <p:nvPr/>
        </p:nvGrpSpPr>
        <p:grpSpPr>
          <a:xfrm>
            <a:off x="3833772" y="4717338"/>
            <a:ext cx="1301834" cy="422667"/>
            <a:chOff x="0" y="-28575"/>
            <a:chExt cx="665389" cy="216032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9"/>
          <p:cNvGrpSpPr/>
          <p:nvPr/>
        </p:nvGrpSpPr>
        <p:grpSpPr>
          <a:xfrm>
            <a:off x="4908837" y="4717338"/>
            <a:ext cx="1301834" cy="422667"/>
            <a:chOff x="0" y="-28575"/>
            <a:chExt cx="665389" cy="216032"/>
          </a:xfrm>
        </p:grpSpPr>
        <p:sp>
          <p:nvSpPr>
            <p:cNvPr id="337" name="Google Shape;337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38" name="Google Shape;338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19"/>
          <p:cNvGrpSpPr/>
          <p:nvPr/>
        </p:nvGrpSpPr>
        <p:grpSpPr>
          <a:xfrm>
            <a:off x="6076060" y="4717338"/>
            <a:ext cx="1301834" cy="422667"/>
            <a:chOff x="0" y="-28575"/>
            <a:chExt cx="665389" cy="216032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9"/>
          <p:cNvGrpSpPr/>
          <p:nvPr/>
        </p:nvGrpSpPr>
        <p:grpSpPr>
          <a:xfrm>
            <a:off x="7142950" y="4717338"/>
            <a:ext cx="1301834" cy="422667"/>
            <a:chOff x="0" y="-28575"/>
            <a:chExt cx="665389" cy="216032"/>
          </a:xfrm>
        </p:grpSpPr>
        <p:sp>
          <p:nvSpPr>
            <p:cNvPr id="343" name="Google Shape;343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44" name="Google Shape;344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9"/>
          <p:cNvGrpSpPr/>
          <p:nvPr/>
        </p:nvGrpSpPr>
        <p:grpSpPr>
          <a:xfrm>
            <a:off x="8241737" y="4717338"/>
            <a:ext cx="1301834" cy="422667"/>
            <a:chOff x="0" y="-28575"/>
            <a:chExt cx="665389" cy="216032"/>
          </a:xfrm>
        </p:grpSpPr>
        <p:sp>
          <p:nvSpPr>
            <p:cNvPr id="346" name="Google Shape;346;p19"/>
            <p:cNvSpPr/>
            <p:nvPr/>
          </p:nvSpPr>
          <p:spPr>
            <a:xfrm>
              <a:off x="0" y="0"/>
              <a:ext cx="665389" cy="187457"/>
            </a:xfrm>
            <a:custGeom>
              <a:rect b="b" l="l" r="r" t="t"/>
              <a:pathLst>
                <a:path extrusionOk="0" h="187457" w="665389">
                  <a:moveTo>
                    <a:pt x="203200" y="0"/>
                  </a:moveTo>
                  <a:lnTo>
                    <a:pt x="665389" y="0"/>
                  </a:lnTo>
                  <a:lnTo>
                    <a:pt x="462189" y="187457"/>
                  </a:lnTo>
                  <a:lnTo>
                    <a:pt x="0" y="187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17223"/>
            </a:solidFill>
            <a:ln>
              <a:noFill/>
            </a:ln>
          </p:spPr>
        </p:sp>
        <p:sp>
          <p:nvSpPr>
            <p:cNvPr id="347" name="Google Shape;347;p19"/>
            <p:cNvSpPr txBox="1"/>
            <p:nvPr/>
          </p:nvSpPr>
          <p:spPr>
            <a:xfrm>
              <a:off x="101600" y="-28575"/>
              <a:ext cx="462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2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8" name="Google Shape;3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722" y="214500"/>
            <a:ext cx="718919" cy="2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 txBox="1"/>
          <p:nvPr/>
        </p:nvSpPr>
        <p:spPr>
          <a:xfrm>
            <a:off x="514350" y="539298"/>
            <a:ext cx="176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BBB8B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FIAP | POS DATA ANALYTICS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